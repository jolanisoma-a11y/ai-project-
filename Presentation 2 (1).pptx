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827" r:id="rId1"/>
  </p:sldMasterIdLst>
  <p:notesMasterIdLst>
    <p:notesMasterId r:id="rId17"/>
  </p:notesMasterIdLst>
  <p:sldIdLst>
    <p:sldId id="256" r:id="rId2"/>
    <p:sldId id="259" r:id="rId3"/>
    <p:sldId id="260" r:id="rId4"/>
    <p:sldId id="258" r:id="rId5"/>
    <p:sldId id="272" r:id="rId6"/>
    <p:sldId id="261" r:id="rId7"/>
    <p:sldId id="263" r:id="rId8"/>
    <p:sldId id="262" r:id="rId9"/>
    <p:sldId id="269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31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5442925688976377"/>
          <c:y val="0.1818515513132658"/>
          <c:w val="0.54426648622047247"/>
          <c:h val="0.8163996791092716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25-47DF-957A-3D590185A1A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25-47DF-957A-3D590185A1A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25-47DF-957A-3D590185A1A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25-47DF-957A-3D590185A1A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Trainig</c:v>
                </c:pt>
                <c:pt idx="1">
                  <c:v>Testing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0%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C6-43DF-9F0C-70DBAA4D2B1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4">
                      <a:shade val="58000"/>
                      <a:tint val="97000"/>
                      <a:satMod val="100000"/>
                      <a:lumMod val="102000"/>
                    </a:schemeClr>
                  </a:gs>
                  <a:gs pos="50000">
                    <a:schemeClr val="accent4">
                      <a:shade val="58000"/>
                      <a:shade val="100000"/>
                      <a:satMod val="103000"/>
                      <a:lumMod val="100000"/>
                    </a:schemeClr>
                  </a:gs>
                  <a:gs pos="100000">
                    <a:schemeClr val="accent4">
                      <a:shade val="58000"/>
                      <a:shade val="93000"/>
                      <a:satMod val="110000"/>
                      <a:lumMod val="99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A6E-44E2-A696-9FB4E0B863B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86000"/>
                      <a:tint val="97000"/>
                      <a:satMod val="100000"/>
                      <a:lumMod val="102000"/>
                    </a:schemeClr>
                  </a:gs>
                  <a:gs pos="50000">
                    <a:schemeClr val="accent4">
                      <a:shade val="86000"/>
                      <a:shade val="100000"/>
                      <a:satMod val="103000"/>
                      <a:lumMod val="100000"/>
                    </a:schemeClr>
                  </a:gs>
                  <a:gs pos="100000">
                    <a:schemeClr val="accent4">
                      <a:shade val="86000"/>
                      <a:shade val="93000"/>
                      <a:satMod val="110000"/>
                      <a:lumMod val="99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A6E-44E2-A696-9FB4E0B863B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4">
                      <a:tint val="86000"/>
                      <a:tint val="97000"/>
                      <a:satMod val="100000"/>
                      <a:lumMod val="102000"/>
                    </a:schemeClr>
                  </a:gs>
                  <a:gs pos="50000">
                    <a:schemeClr val="accent4">
                      <a:tint val="86000"/>
                      <a:shade val="100000"/>
                      <a:satMod val="103000"/>
                      <a:lumMod val="100000"/>
                    </a:schemeClr>
                  </a:gs>
                  <a:gs pos="100000">
                    <a:schemeClr val="accent4">
                      <a:tint val="86000"/>
                      <a:shade val="93000"/>
                      <a:satMod val="110000"/>
                      <a:lumMod val="99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A6E-44E2-A696-9FB4E0B863B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58000"/>
                      <a:tint val="97000"/>
                      <a:satMod val="100000"/>
                      <a:lumMod val="102000"/>
                    </a:schemeClr>
                  </a:gs>
                  <a:gs pos="50000">
                    <a:schemeClr val="accent4">
                      <a:tint val="58000"/>
                      <a:shade val="100000"/>
                      <a:satMod val="103000"/>
                      <a:lumMod val="100000"/>
                    </a:schemeClr>
                  </a:gs>
                  <a:gs pos="100000">
                    <a:schemeClr val="accent4">
                      <a:tint val="58000"/>
                      <a:shade val="93000"/>
                      <a:satMod val="110000"/>
                      <a:lumMod val="99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A6E-44E2-A696-9FB4E0B863B3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D-4A0E-9F05-49C3FAEE36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8D5E4-A1F9-3643-BFBD-990AB087FC6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2E97-02AB-904F-97FF-45667C5F3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1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2E97-02AB-904F-97FF-45667C5F39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52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577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11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488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85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7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7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4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90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60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2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67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wrap="square">
            <a:noAutofit/>
          </a:bodyPr>
          <a:lstStyle/>
          <a:p>
            <a:pPr algn="l"/>
            <a:r>
              <a:rPr lang="he-IL" sz="4800">
                <a:solidFill>
                  <a:schemeClr val="tx1"/>
                </a:solidFill>
                <a:latin typeface="Garamond"/>
                <a:cs typeface="Times New Roman"/>
              </a:rPr>
              <a:t>Predicting Medical Insurance Charges Using Personal Attributes </a:t>
            </a:r>
            <a:endParaRPr lang="he-IL" sz="4800">
              <a:solidFill>
                <a:schemeClr val="tx1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BD17F-C95C-40ED-8D04-03295D46FD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03DEB5-0B19-4F8E-84E2-00F5861C96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867700" y="2007220"/>
            <a:ext cx="2357553" cy="28435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e-IL" dirty="0">
                <a:solidFill>
                  <a:srgbClr val="FFFFFF"/>
                </a:solidFill>
                <a:latin typeface="AngsanaUPC" panose="02020603050405020304" pitchFamily="18" charset="-34"/>
              </a:rPr>
              <a:t>Course: ai course weekly assignment</a:t>
            </a:r>
          </a:p>
          <a:p>
            <a:pPr>
              <a:lnSpc>
                <a:spcPct val="90000"/>
              </a:lnSpc>
            </a:pPr>
            <a:r>
              <a:rPr lang="he-IL" dirty="0">
                <a:solidFill>
                  <a:srgbClr val="FFFFFF"/>
                </a:solidFill>
                <a:latin typeface="AngsanaUPC" panose="02020603050405020304" pitchFamily="18" charset="-34"/>
              </a:rPr>
              <a:t>Dataset: medical cost personal dataset (kaggle)</a:t>
            </a:r>
          </a:p>
          <a:p>
            <a:pPr>
              <a:lnSpc>
                <a:spcPct val="90000"/>
              </a:lnSpc>
            </a:pPr>
            <a:r>
              <a:rPr lang="he-IL" dirty="0">
                <a:solidFill>
                  <a:srgbClr val="FFFFFF"/>
                </a:solidFill>
                <a:latin typeface="AngsanaUPC" panose="02020603050405020304" pitchFamily="18" charset="-34"/>
              </a:rPr>
              <a:t>Prepared by: basma muhaned joulani, raneen ibrahim ladadweh</a:t>
            </a:r>
          </a:p>
        </p:txBody>
      </p:sp>
    </p:spTree>
    <p:extLst>
      <p:ext uri="{BB962C8B-B14F-4D97-AF65-F5344CB8AC3E}">
        <p14:creationId xmlns:p14="http://schemas.microsoft.com/office/powerpoint/2010/main" val="247840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A947-6A78-4C0D-B7EE-BE839606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583274"/>
            <a:ext cx="10653578" cy="113225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Garamond"/>
              </a:rPr>
              <a:t>Which Personal Factors have the greatest Impact on medical insurance charges, and can we use these factors to predict a person’s medical costs?</a:t>
            </a:r>
            <a:endParaRPr lang="en-US" sz="2000" dirty="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02A9-D4CF-2572-D2B6-1A51B3E9F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latin typeface="Garamond"/>
                <a:ea typeface="+mn-lt"/>
                <a:cs typeface="+mn-lt"/>
              </a:rPr>
              <a:t>Objectives: -</a:t>
            </a:r>
          </a:p>
          <a:p>
            <a:pPr lvl="1"/>
            <a:r>
              <a:rPr lang="en-US" sz="2200" dirty="0">
                <a:latin typeface="Garamond"/>
                <a:ea typeface="+mn-lt"/>
                <a:cs typeface="+mn-lt"/>
              </a:rPr>
              <a:t>Analyze factors affecting insurance charges.</a:t>
            </a:r>
            <a:endParaRPr lang="en-US" sz="2200" dirty="0">
              <a:latin typeface="Garamond"/>
            </a:endParaRPr>
          </a:p>
          <a:p>
            <a:pPr lvl="1"/>
            <a:r>
              <a:rPr lang="en-US" sz="2200" dirty="0">
                <a:latin typeface="Garamond"/>
                <a:ea typeface="+mn-lt"/>
                <a:cs typeface="+mn-lt"/>
              </a:rPr>
              <a:t>Clean and preprocess the dataset.</a:t>
            </a:r>
            <a:endParaRPr lang="en-US" sz="2200" dirty="0">
              <a:latin typeface="Garamond"/>
            </a:endParaRPr>
          </a:p>
          <a:p>
            <a:pPr lvl="1"/>
            <a:r>
              <a:rPr lang="en-US" sz="2200" dirty="0">
                <a:latin typeface="Garamond"/>
                <a:ea typeface="+mn-lt"/>
                <a:cs typeface="+mn-lt"/>
              </a:rPr>
              <a:t>Visualize important patterns.</a:t>
            </a:r>
            <a:endParaRPr lang="en-US" sz="2200" dirty="0">
              <a:latin typeface="Garamond"/>
            </a:endParaRPr>
          </a:p>
          <a:p>
            <a:pPr lvl="1"/>
            <a:r>
              <a:rPr lang="en-US" sz="2200" dirty="0">
                <a:latin typeface="Garamond"/>
                <a:ea typeface="+mn-lt"/>
                <a:cs typeface="+mn-lt"/>
              </a:rPr>
              <a:t>Prepare the dataset for machine learning.</a:t>
            </a:r>
            <a:endParaRPr lang="en-US" sz="2200" dirty="0">
              <a:latin typeface="Garamond"/>
            </a:endParaRPr>
          </a:p>
          <a:p>
            <a:endParaRPr lang="en-US" sz="2400" dirty="0">
              <a:latin typeface="Garamond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27B4-8DD8-47E0-9752-269260C4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7FB9-BF2C-4F19-B822-B002B3427812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49DB1-08F1-59C7-7C42-AD004BAF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9FBA3-0A73-5137-2802-ACA64F66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0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1586-87CE-1068-CD53-5640986C0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BC004-247D-0B33-8534-FDD3088E0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2400" dirty="0">
                <a:latin typeface="Garamond"/>
              </a:rPr>
              <a:t>Dataset Source: </a:t>
            </a:r>
            <a:r>
              <a:rPr lang="en-US" sz="2400" dirty="0" err="1">
                <a:latin typeface="Garamond"/>
              </a:rPr>
              <a:t>Kaggle</a:t>
            </a:r>
            <a:r>
              <a:rPr lang="en-US" sz="2400" dirty="0">
                <a:latin typeface="Garamond"/>
              </a:rPr>
              <a:t>, Medical cost personal dataset</a:t>
            </a:r>
            <a:endParaRPr lang="en-US" dirty="0">
              <a:latin typeface="Garamond"/>
            </a:endParaRPr>
          </a:p>
          <a:p>
            <a:r>
              <a:rPr lang="en-US" sz="2400" dirty="0">
                <a:latin typeface="Garamond"/>
              </a:rPr>
              <a:t>Dataset Features: -</a:t>
            </a:r>
          </a:p>
          <a:p>
            <a:pPr lvl="1"/>
            <a:r>
              <a:rPr lang="en-US" sz="2200" dirty="0">
                <a:latin typeface="Garamond"/>
              </a:rPr>
              <a:t>Age </a:t>
            </a:r>
          </a:p>
          <a:p>
            <a:pPr lvl="1"/>
            <a:r>
              <a:rPr lang="en-US" sz="2200" dirty="0">
                <a:latin typeface="Garamond"/>
              </a:rPr>
              <a:t>Gender</a:t>
            </a:r>
          </a:p>
          <a:p>
            <a:pPr lvl="1"/>
            <a:r>
              <a:rPr lang="en-US" sz="2200" dirty="0">
                <a:latin typeface="Garamond"/>
              </a:rPr>
              <a:t>BMI</a:t>
            </a:r>
          </a:p>
          <a:p>
            <a:pPr lvl="1"/>
            <a:r>
              <a:rPr lang="en-US" sz="2200" dirty="0">
                <a:latin typeface="Garamond"/>
              </a:rPr>
              <a:t>Number of Children</a:t>
            </a:r>
          </a:p>
          <a:p>
            <a:pPr lvl="1"/>
            <a:r>
              <a:rPr lang="en-US" sz="2200" dirty="0">
                <a:latin typeface="Garamond"/>
              </a:rPr>
              <a:t>Smoker/ Non-smoker</a:t>
            </a:r>
          </a:p>
          <a:p>
            <a:pPr lvl="1"/>
            <a:r>
              <a:rPr lang="en-US" sz="2200" dirty="0">
                <a:latin typeface="Garamond"/>
              </a:rPr>
              <a:t>Region</a:t>
            </a:r>
          </a:p>
          <a:p>
            <a:pPr lvl="1"/>
            <a:r>
              <a:rPr lang="en-US" sz="2200" dirty="0">
                <a:latin typeface="Garamond"/>
              </a:rPr>
              <a:t>Charges (Target variable)</a:t>
            </a:r>
          </a:p>
          <a:p>
            <a:pPr marL="0" indent="0">
              <a:buNone/>
            </a:pPr>
            <a:endParaRPr lang="en-US" sz="2400" dirty="0">
              <a:latin typeface="Garamond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A9C82-6B40-2CD2-1562-956E17FF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4F6CB-AA8B-4B13-8F42-40D57C952E49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44CE1-0E17-4D7B-2B86-BA6F5039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3B175-3701-3E2C-9A1C-645CC45F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5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D18B-F0BA-B394-2CBB-AC0B6FF0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/>
              </a:rPr>
              <a:t>About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8889E-B32A-CF80-F8E5-954B88CC5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000" dirty="0">
                <a:latin typeface="Garamond"/>
              </a:rPr>
              <a:t>The project type is Regression, that's because the target variable (Charges) is numerical, as we want to predict a continuous value (medical cost).</a:t>
            </a:r>
          </a:p>
          <a:p>
            <a:r>
              <a:rPr lang="en-US" sz="3000" dirty="0">
                <a:latin typeface="Garamond"/>
              </a:rPr>
              <a:t>The feature we need to predict the variable is age, BMI, number of children, and the categorical features are gender, smoke or not, and their region.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2E129-AA7B-0F77-30A5-1547400C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6A3F8-DEFD-482F-B248-6060EE499554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C3E06-0608-9511-1895-51E1E6D0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A5F23-5DF7-2CFE-B266-E8204A9C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20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6CD9-B6F5-F0D5-77FD-6B55E883D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 err="1"/>
              <a:t>Training</a:t>
            </a:r>
            <a:r>
              <a:rPr lang="ar-EG" dirty="0"/>
              <a:t> </a:t>
            </a:r>
            <a:r>
              <a:rPr lang="ar-EG" dirty="0" err="1"/>
              <a:t>and</a:t>
            </a:r>
            <a:r>
              <a:rPr lang="ar-EG" dirty="0"/>
              <a:t> </a:t>
            </a:r>
            <a:r>
              <a:rPr lang="ar-EG" dirty="0" err="1"/>
              <a:t>testing</a:t>
            </a:r>
            <a:endParaRPr lang="en-US" dirty="0"/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4203796043"/>
              </p:ext>
            </p:extLst>
          </p:nvPr>
        </p:nvGraphicFramePr>
        <p:xfrm>
          <a:off x="4421328" y="1963217"/>
          <a:ext cx="6191794" cy="4174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3468899265"/>
              </p:ext>
            </p:extLst>
          </p:nvPr>
        </p:nvGraphicFramePr>
        <p:xfrm>
          <a:off x="638380" y="2600325"/>
          <a:ext cx="5486400" cy="3822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502899" y="4189032"/>
            <a:ext cx="175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1338 Charges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772400" y="4050532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1070 Training</a:t>
            </a:r>
          </a:p>
          <a:p>
            <a:pPr algn="ctr"/>
            <a:r>
              <a:rPr lang="en-US" dirty="0" smtClean="0"/>
              <a:t>268 </a:t>
            </a:r>
            <a:r>
              <a:rPr lang="en-US" dirty="0" err="1" smtClean="0"/>
              <a:t>Testin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564777" y="4511354"/>
            <a:ext cx="14761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33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5BF6-6153-74A1-8A0C-22695A06A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2790738"/>
            <a:ext cx="10449784" cy="1265928"/>
          </a:xfrm>
        </p:spPr>
        <p:txBody>
          <a:bodyPr>
            <a:normAutofit/>
          </a:bodyPr>
          <a:lstStyle/>
          <a:p>
            <a:pPr algn="ctr"/>
            <a:r>
              <a:rPr lang="en-US" sz="6000">
                <a:latin typeface="Garamond"/>
              </a:rPr>
              <a:t>Data Exploration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B6C2-12BA-44F8-FBA7-806A5A6A4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82B5-6F1C-4F6B-B02D-9641F52DC8FF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DB4F3-36B3-9DA3-1F36-5872D7CA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22C6-FECB-A54C-37E7-75134922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9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AD93-9232-62DA-52E4-65F27AD8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400BF9F-06A2-DD11-4113-44D123F5E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316" t="-76" b="512"/>
          <a:stretch>
            <a:fillRect/>
          </a:stretch>
        </p:blipFill>
        <p:spPr>
          <a:xfrm>
            <a:off x="628914" y="1643794"/>
            <a:ext cx="5950689" cy="35542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ACD8-04DD-C643-4251-544BE729C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2868-FFEE-4093-8D14-96CB3E3D3031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5CDC3-59A7-9212-18DE-952B1480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B476B-F0DB-0049-56F0-8FDBC50A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756EC-6AC1-89F3-C707-EC106878E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3" r="143" b="-295"/>
          <a:stretch>
            <a:fillRect/>
          </a:stretch>
        </p:blipFill>
        <p:spPr>
          <a:xfrm>
            <a:off x="6741532" y="1642867"/>
            <a:ext cx="5071003" cy="355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7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26DE-E456-3C14-5B42-2864A553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8371E3-F4FB-77CF-6691-10B0DBFB2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309"/>
          <a:stretch>
            <a:fillRect/>
          </a:stretch>
        </p:blipFill>
        <p:spPr>
          <a:xfrm>
            <a:off x="2331424" y="1061956"/>
            <a:ext cx="7879770" cy="47388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7FCB1-3B8D-157C-C289-AB8CECF5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2603B-3C8E-49B7-97F3-74A7281D7BE8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23691-B6E8-2115-990D-DCFB86776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C297E-744A-8139-180D-2390DFB0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22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2F97-4FE5-EF44-0FD3-B0959032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2790738"/>
            <a:ext cx="10449784" cy="1265928"/>
          </a:xfrm>
        </p:spPr>
        <p:txBody>
          <a:bodyPr>
            <a:normAutofit/>
          </a:bodyPr>
          <a:lstStyle/>
          <a:p>
            <a:pPr algn="ctr"/>
            <a:r>
              <a:rPr lang="en-US" sz="6000">
                <a:latin typeface="Garamond"/>
              </a:rPr>
              <a:t>Data Preprocessing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F9EF7-C7F4-B321-FAEB-4A072895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886D5-F9EF-45DA-B4FF-1FC057AFF4C3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FB95-7C71-AF44-46FB-EAB5D939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4DF7A-9C02-8DFA-0540-9A4047C8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7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B3A0-5554-BDA7-39D7-05AD55FB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/>
              </a:rPr>
              <a:t>Histogram of Medical Charges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8B9780-C0F2-5EBD-EA39-698ECD6C0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6024" y="2638425"/>
            <a:ext cx="4559953" cy="31019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5EE29-82DA-F529-4781-45A283DF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6FA-C314-4154-B42D-1ED6A4E7815F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C80B3-2D5D-64D1-EAF7-7FF35497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A8F9-FDED-A6B8-8FEA-8C610426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03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FE63-EEAB-C9BE-89AF-76881C3E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/>
              </a:rPr>
              <a:t>Age vs Charges Scatter Plot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19ADB2-6B12-4C5C-12B0-D55932E7C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4945" y="2638425"/>
            <a:ext cx="4962111" cy="31019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FB8D9-C14E-3859-5A2E-5B1F91235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5EFDB-171F-4226-86DE-0C9A53527B27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F54FD-DFF7-3A09-089E-9E79E6F9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C9C56-225A-8FDC-8BCA-12F23835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091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1A90-F85D-2355-24D2-C2F1C39E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/>
              </a:rPr>
              <a:t>Smoking Status vs Charges Bar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97F40F-E3DF-26B5-E6FB-B5C368952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2421" y="2638425"/>
            <a:ext cx="4127159" cy="31019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93DED-37F2-CF8F-5F6F-4895DCDE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3784-44F7-4363-86C5-B7DAAF16D216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03562-E58A-E6A4-ADF9-31923C0C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EE243-3071-F4B1-F003-F866F0BC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285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2F71-30C1-8461-7725-364AA7D2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/>
              </a:rPr>
              <a:t>BMI vs Charges Scatter plot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3C5DD3-ABF7-4DF9-8C31-0EB9C93B1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1574" y="2638425"/>
            <a:ext cx="4808853" cy="31019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27900-3581-0938-5F59-A92AD42C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33A1-4117-4C0E-B54D-49AFF9E6EC1C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95CEC-A80E-8577-835D-54093202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CED1-CC58-854E-65F0-53C4AE51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4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D6FA-F195-21F5-1FF5-9A3D2388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/>
              </a:rPr>
              <a:t>Three Important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AC883-12E2-0215-C684-87464846E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aramond"/>
                <a:cs typeface="Arial"/>
              </a:rPr>
              <a:t>Smoking significantly increases medical insurance costs.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Garamond"/>
                <a:cs typeface="Arial"/>
              </a:rPr>
              <a:t>Older </a:t>
            </a:r>
            <a:r>
              <a:rPr lang="en-US" sz="2800" dirty="0" err="1">
                <a:latin typeface="Garamond"/>
                <a:cs typeface="Arial"/>
              </a:rPr>
              <a:t>indivisuals</a:t>
            </a:r>
            <a:r>
              <a:rPr lang="en-US" sz="2800" dirty="0">
                <a:latin typeface="Garamond"/>
                <a:cs typeface="Arial"/>
              </a:rPr>
              <a:t> tend to have higher healthcare expenses.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Garamond"/>
                <a:cs typeface="Arial"/>
              </a:rPr>
              <a:t>Higher BMI is </a:t>
            </a:r>
            <a:r>
              <a:rPr lang="en-US" sz="2800" dirty="0" err="1">
                <a:latin typeface="Garamond"/>
                <a:cs typeface="Arial"/>
              </a:rPr>
              <a:t>associacted</a:t>
            </a:r>
            <a:r>
              <a:rPr lang="en-US" sz="2800" dirty="0">
                <a:latin typeface="Garamond"/>
                <a:cs typeface="Arial"/>
              </a:rPr>
              <a:t> with higher insurance charges.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28B14-0D46-74E2-5167-3A1B5EC7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6554-653F-4702-9ECB-F6E0C98A265A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1668C-6DE4-A81C-DDE5-1C111D9C5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8B09A-B0C4-1B68-8CF3-754EF4DC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60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BC55-6120-D48B-5AFD-EA7EBBC8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BBC4B-D4B0-3B04-2B2C-E7ADA8A2D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800" dirty="0">
                <a:latin typeface="Garamond"/>
                <a:ea typeface="+mn-lt"/>
                <a:cs typeface="+mn-lt"/>
              </a:rPr>
              <a:t>The Medical Cost Personal Dataset was cleaned and analyzed successfully. </a:t>
            </a:r>
          </a:p>
          <a:p>
            <a:r>
              <a:rPr lang="en-US" sz="2800" dirty="0">
                <a:latin typeface="Garamond"/>
                <a:ea typeface="+mn-lt"/>
                <a:cs typeface="+mn-lt"/>
              </a:rPr>
              <a:t>Smoking status, age, and BMI were the most influential factors affecting insurance charges. </a:t>
            </a:r>
          </a:p>
          <a:p>
            <a:r>
              <a:rPr lang="en-US" sz="2800" dirty="0">
                <a:latin typeface="Garamond"/>
                <a:ea typeface="+mn-lt"/>
                <a:cs typeface="+mn-lt"/>
              </a:rPr>
              <a:t>The dataset was preprocessed and prepared for machine learning.</a:t>
            </a:r>
          </a:p>
          <a:p>
            <a:r>
              <a:rPr lang="en-US" sz="2800" dirty="0">
                <a:latin typeface="Garamond"/>
                <a:ea typeface="+mn-lt"/>
                <a:cs typeface="+mn-lt"/>
              </a:rPr>
              <a:t> These factors can be used to predict future medical insurance costs.</a:t>
            </a:r>
            <a:endParaRPr lang="en-US" sz="2800" dirty="0">
              <a:latin typeface="Garamond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8DE45-C405-1399-16A3-7AC8E40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3389A-F660-4D18-B644-5CB0DEC735AA}" type="datetime1">
              <a:t>8/8/2026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0662A-5F2D-87C3-36BB-B0469F96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FDC9C-56D1-5823-6786-C9FF94B8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72208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342</Words>
  <Application>Microsoft Office PowerPoint</Application>
  <PresentationFormat>Widescreen</PresentationFormat>
  <Paragraphs>82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AngsanaUPC</vt:lpstr>
      <vt:lpstr>Aptos</vt:lpstr>
      <vt:lpstr>Arial</vt:lpstr>
      <vt:lpstr>Garamond</vt:lpstr>
      <vt:lpstr>Gill Sans MT</vt:lpstr>
      <vt:lpstr>Majalla UI</vt:lpstr>
      <vt:lpstr>Times New Roman</vt:lpstr>
      <vt:lpstr>Parcel</vt:lpstr>
      <vt:lpstr>Predicting Medical Insurance Charges Using Personal Attributes </vt:lpstr>
      <vt:lpstr>Which Personal Factors have the greatest Impact on medical insurance charges, and can we use these factors to predict a person’s medical costs?</vt:lpstr>
      <vt:lpstr>Dataset Description</vt:lpstr>
      <vt:lpstr>About the project</vt:lpstr>
      <vt:lpstr>Training and testing</vt:lpstr>
      <vt:lpstr>Data Exploration</vt:lpstr>
      <vt:lpstr>PowerPoint Presentation</vt:lpstr>
      <vt:lpstr>PowerPoint Presentation</vt:lpstr>
      <vt:lpstr>Data Preprocessing</vt:lpstr>
      <vt:lpstr>Histogram of Medical Charges</vt:lpstr>
      <vt:lpstr>Age vs Charges Scatter Plot</vt:lpstr>
      <vt:lpstr>Smoking Status vs Charges Bar chart</vt:lpstr>
      <vt:lpstr>BMI vs Charges Scatter plot</vt:lpstr>
      <vt:lpstr>Three Important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Medical Insurance Charges Using Personal Attributes </dc:title>
  <dc:creator/>
  <cp:lastModifiedBy>user</cp:lastModifiedBy>
  <cp:revision>347</cp:revision>
  <dcterms:created xsi:type="dcterms:W3CDTF">2026-08-07T13:52:56Z</dcterms:created>
  <dcterms:modified xsi:type="dcterms:W3CDTF">2026-08-08T08:30:59Z</dcterms:modified>
</cp:coreProperties>
</file>